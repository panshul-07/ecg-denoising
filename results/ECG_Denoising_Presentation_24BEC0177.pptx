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ECG Signal Denoising Project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CEEMDAN-guided Morphological Custom Wavelet Design with Sub-band Adaptive Thresholding</a:t>
            </a:r>
          </a:p>
          <a:p>
            <a:r>
              <a:t>Presented by: Reg No 24BEC0177</a:t>
            </a:r>
          </a:p>
          <a:p>
            <a:r>
              <a:t>Under the guidance of Dr. Jaffino 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ECG signals are often corrupted by baseline wander, muscle noise, and instrumentation noise.</a:t>
            </a:r>
          </a:p>
          <a:p>
            <a:pPr/>
            <a:r>
              <a:t>Denoising must suppress noise while preserving clinical morphology, especially QRS and R-peaks.</a:t>
            </a:r>
          </a:p>
          <a:p>
            <a:pPr/>
            <a:r>
              <a:t>This work proposes a morphology-aware wavelet framework guided by CEEMDAN for adaptive denoising.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Previous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Classical DWT denoising with fixed mother wavelets (db4, sym5) + universal soft threshold.</a:t>
            </a:r>
          </a:p>
          <a:p>
            <a:pPr/>
            <a:r>
              <a:t>EMD/CEEMDAN hybrid methods that reduce mode mixing but do not fully encode ECG morphology into wavelet design.</a:t>
            </a:r>
          </a:p>
          <a:p>
            <a:pPr/>
            <a:r>
              <a:t>Limitations: global threshold assumptions and potential QRS distortion under aggressive shrinkage.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Our Proposed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5303520" cy="2560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Pipeline:</a:t>
            </a:r>
          </a:p>
          <a:p>
            <a:pPr lvl="1"/>
            <a:r>
              <a:t>1) CEEMDAN on clean ECG -&gt; dominant IMF selection</a:t>
            </a:r>
          </a:p>
          <a:p>
            <a:pPr lvl="1"/>
            <a:r>
              <a:t>2) QRS prototype extraction + 3-Gaussian morphology fitting</a:t>
            </a:r>
          </a:p>
          <a:p>
            <a:pPr lvl="1"/>
            <a:r>
              <a:t>3) Derivative-based custom mother wavelet construction</a:t>
            </a:r>
          </a:p>
          <a:p>
            <a:pPr lvl="1"/>
            <a:r>
              <a:t>4) CEEMDAN-guided sub-band sigma profiling + adaptive T_j</a:t>
            </a:r>
          </a:p>
          <a:p>
            <a:pPr lvl="1"/>
            <a:r>
              <a:t>5) 3-zone morphology-preserving thresholding + QRS protection mask</a:t>
            </a:r>
          </a:p>
          <a:p>
            <a:pPr lvl="1"/>
            <a:r>
              <a:t>6) Manual inverse DWT reconstruction and metric evaluation</a:t>
            </a:r>
          </a:p>
        </p:txBody>
      </p:sp>
      <p:pic>
        <p:nvPicPr>
          <p:cNvPr id="4" name="Picture 3" descr="Figur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097280"/>
            <a:ext cx="6217920" cy="72542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530352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Full Proposed Method (from results_table.csv):</a:t>
            </a:r>
          </a:p>
          <a:p>
            <a:pPr lvl="1"/>
            <a:r>
              <a:t>Input SNR 5 dB: PRD=99.91%, SSIM=0.246, SNR_out=0.01 dB</a:t>
            </a:r>
          </a:p>
          <a:p>
            <a:pPr lvl="1"/>
            <a:r>
              <a:t>Input SNR 10 dB: PRD=99.91%, SSIM=0.242, SNR_out=0.01 dB</a:t>
            </a:r>
          </a:p>
          <a:p>
            <a:pPr lvl="1"/>
            <a:r>
              <a:t>Input SNR 15 dB: PRD=99.92%, SSIM=0.245, SNR_out=0.01 dB</a:t>
            </a:r>
          </a:p>
          <a:p>
            <a:pPr lvl="1"/>
            <a:r>
              <a:t>Input SNR 20 dB: PRD=99.91%, SSIM=0.246, SNR_out=0.01 dB</a:t>
            </a:r>
          </a:p>
          <a:p>
            <a:pPr/>
            <a:r>
              <a:t>Top-3 lowest PRD at 10 dB input:</a:t>
            </a:r>
          </a:p>
          <a:p>
            <a:pPr lvl="1"/>
            <a:r>
              <a:t>FULL PROPOSED (N1+N2+N3): PRD=99.91%</a:t>
            </a:r>
          </a:p>
          <a:p>
            <a:pPr lvl="1"/>
            <a:r>
              <a:t>Custom + universal (N1): PRD=99.91%</a:t>
            </a:r>
          </a:p>
          <a:p>
            <a:pPr lvl="1"/>
            <a:r>
              <a:t>sym5 + universal + soft: PRD=144.33%</a:t>
            </a:r>
          </a:p>
        </p:txBody>
      </p:sp>
      <p:pic>
        <p:nvPicPr>
          <p:cNvPr id="4" name="Picture 3" descr="Figur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097280"/>
            <a:ext cx="6217920" cy="444137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Acknowledgment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I express sincere gratitude to Dr. Jaffino G for guidance, feedback, and support throughout this work.</a:t>
            </a:r>
          </a:p>
          <a:p>
            <a:pPr/>
            <a:r>
              <a:t>I thank the department/faculty for providing resources for experimentation and evaluation.</a:t>
            </a:r>
          </a:p>
          <a:p>
            <a:pPr/>
            <a:r>
              <a:t>I acknowledge the MIT-BIH Arrhythmia Database and open-source Python ecosystem used in this project.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