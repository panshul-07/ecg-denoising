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ECG Signal Denoising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CEEMDAN-guided Morphological Custom Wavelet Design with Sub-band Adaptive Thresholding</a:t>
            </a:r>
          </a:p>
          <a:p>
            <a:r>
              <a:t>Presented by: Reg No 24BEC0177</a:t>
            </a:r>
          </a:p>
          <a:p>
            <a:r>
              <a:t>Under the guidance of Dr. Jaffino 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ECG signals are often corrupted by baseline wander, muscle noise, and instrumentation noise.</a:t>
            </a:r>
          </a:p>
          <a:p>
            <a:pPr/>
            <a:r>
              <a:t>Denoising must suppress noise while preserving clinical morphology, especially QRS and R-peaks.</a:t>
            </a:r>
          </a:p>
          <a:p>
            <a:pPr/>
            <a:r>
              <a:t>This work proposes a morphology-aware wavelet framework guided by CEEMDAN for adaptive denoising.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Previous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Classical DWT denoising with fixed mother wavelets (db4, sym5) + universal soft threshold.</a:t>
            </a:r>
          </a:p>
          <a:p>
            <a:pPr/>
            <a:r>
              <a:t>EMD/CEEMDAN hybrid methods that reduce mode mixing but do not fully encode ECG morphology into wavelet design.</a:t>
            </a:r>
          </a:p>
          <a:p>
            <a:pPr/>
            <a:r>
              <a:t>Limitations: global threshold assumptions and potential QRS distortion under aggressive shrinkage.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Proposed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Pipeline:</a:t>
            </a:r>
          </a:p>
          <a:p>
            <a:pPr lvl="1"/>
            <a:r>
              <a:t>1) CEEMDAN on clean ECG -&gt; dominant IMF selection</a:t>
            </a:r>
          </a:p>
          <a:p>
            <a:pPr lvl="1"/>
            <a:r>
              <a:t>2) QRS prototype extraction + 3-Gaussian morphology fitting</a:t>
            </a:r>
          </a:p>
          <a:p>
            <a:pPr lvl="1"/>
            <a:r>
              <a:t>3) Derivative-based custom mother wavelet construction</a:t>
            </a:r>
          </a:p>
          <a:p>
            <a:pPr lvl="1"/>
            <a:r>
              <a:t>4) CEEMDAN-guided sub-band sigma profiling + adaptive T_j</a:t>
            </a:r>
          </a:p>
          <a:p>
            <a:pPr lvl="1"/>
            <a:r>
              <a:t>5) 3-zone morphology-preserving thresholding + QRS protection mask</a:t>
            </a:r>
          </a:p>
          <a:p>
            <a:pPr lvl="1"/>
            <a:r>
              <a:t>6) Manual inverse DWT reconstruction and metric evaluation</a:t>
            </a:r>
          </a:p>
        </p:txBody>
      </p:sp>
      <p:pic>
        <p:nvPicPr>
          <p:cNvPr id="4" name="Picture 3" descr="Figu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97280"/>
            <a:ext cx="6217920" cy="7254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303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Full Proposed Method (from results_table.csv):</a:t>
            </a:r>
          </a:p>
          <a:p>
            <a:pPr lvl="1"/>
            <a:r>
              <a:t>Input SNR 5 dB: PRD=99.91%, SSIM=0.246, SNR_out=0.01 dB</a:t>
            </a:r>
          </a:p>
          <a:p>
            <a:pPr lvl="1"/>
            <a:r>
              <a:t>Input SNR 10 dB: PRD=99.91%, SSIM=0.242, SNR_out=0.01 dB</a:t>
            </a:r>
          </a:p>
          <a:p>
            <a:pPr lvl="1"/>
            <a:r>
              <a:t>Input SNR 15 dB: PRD=99.92%, SSIM=0.245, SNR_out=0.01 dB</a:t>
            </a:r>
          </a:p>
          <a:p>
            <a:pPr lvl="1"/>
            <a:r>
              <a:t>Input SNR 20 dB: PRD=99.91%, SSIM=0.246, SNR_out=0.01 dB</a:t>
            </a:r>
          </a:p>
          <a:p>
            <a:pPr/>
            <a:r>
              <a:t>Top-3 lowest PRD at 10 dB input:</a:t>
            </a:r>
          </a:p>
          <a:p>
            <a:pPr lvl="1"/>
            <a:r>
              <a:t>FULL PROPOSED (N1+N2+N3): PRD=99.91%</a:t>
            </a:r>
          </a:p>
          <a:p>
            <a:pPr lvl="1"/>
            <a:r>
              <a:t>Custom + universal (N1): PRD=99.91%</a:t>
            </a:r>
          </a:p>
          <a:p>
            <a:pPr lvl="1"/>
            <a:r>
              <a:t>sym5 + universal + soft: PRD=144.33%</a:t>
            </a:r>
          </a:p>
        </p:txBody>
      </p:sp>
      <p:pic>
        <p:nvPicPr>
          <p:cNvPr id="4" name="Picture 3" descr="Figur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097280"/>
            <a:ext cx="6217920" cy="44413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 express sincere gratitude to Dr. Jaffino G for guidance, feedback, and support throughout this work.</a:t>
            </a:r>
          </a:p>
          <a:p>
            <a:pPr/>
            <a:r>
              <a:t>I thank the department/faculty for providing resources for experimentation and evaluation.</a:t>
            </a:r>
          </a:p>
          <a:p>
            <a:pPr/>
            <a:r>
              <a:t>I acknowledge the MIT-BIH Arrhythmia Database and open-source Python ecosystem used in this project.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Our Model Is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57784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Previous Methods</a:t>
            </a:r>
          </a:p>
          <a:p>
            <a:pPr lvl="1"/>
            <a:r>
              <a:t>Use fixed wavelets (db4/sym5) not tailored to ECG morphology.</a:t>
            </a:r>
          </a:p>
          <a:p>
            <a:pPr lvl="1"/>
            <a:r>
              <a:t>Estimate noise globally (single sigma), often from finest scale only.</a:t>
            </a:r>
          </a:p>
          <a:p>
            <a:pPr lvl="1"/>
            <a:r>
              <a:t>Use hard/soft thresholding that can over-shrink QRS coefficients.</a:t>
            </a:r>
          </a:p>
          <a:p>
            <a:pPr lvl="1"/>
            <a:r>
              <a:t>Limited protection of R-peak sharpness during denoising.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57784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Our Proposed Model</a:t>
            </a:r>
          </a:p>
          <a:p>
            <a:pPr lvl="1"/>
            <a:r>
              <a:t>Designs a custom wavelet from CEEMDAN-selected ECG morphology (QRS-driven).</a:t>
            </a:r>
          </a:p>
          <a:p>
            <a:pPr lvl="1"/>
            <a:r>
              <a:t>Profiles noise per sub-band using CEEMDAN IMF-frequency mapping.</a:t>
            </a:r>
          </a:p>
          <a:p>
            <a:pPr lvl="1"/>
            <a:r>
              <a:t>Uses a 3-zone morphology-preserving thresholding function.</a:t>
            </a:r>
          </a:p>
          <a:p>
            <a:pPr lvl="1"/>
            <a:r>
              <a:t>Applies QRS mask protection in high-frequency levels to preserve R-peaks.</a:t>
            </a:r>
          </a:p>
          <a:p>
            <a:pPr lvl="1"/>
            <a:r>
              <a:t>Combines all three novelties in one end-to-end reconstruction pipeline.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